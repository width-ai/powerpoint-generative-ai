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330818" y="601724"/>
            <a:ext cx="6477805" cy="219053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950"/>
              <a:buFont typeface="Rockwell"/>
              <a:buNone/>
              <a:defRPr sz="495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330818" y="2793056"/>
            <a:ext cx="6477804" cy="73321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b="0" sz="1350" cap="none">
                <a:solidFill>
                  <a:schemeClr val="lt1"/>
                </a:solidFill>
              </a:defRPr>
            </a:lvl1pPr>
            <a:lvl2pPr lvl="1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2pPr>
            <a:lvl3pPr lvl="2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/>
            </a:lvl3pPr>
            <a:lvl4pPr lvl="3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35762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1088685" y="603390"/>
            <a:ext cx="6968411" cy="786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1088685" y="1511799"/>
            <a:ext cx="6968411" cy="25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1330817" y="1317098"/>
            <a:ext cx="6482366" cy="14767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Rockwell"/>
              <a:buNone/>
              <a:defRPr sz="2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1330817" y="2793853"/>
            <a:ext cx="6482366" cy="8204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91425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sz="135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1086913" y="603667"/>
            <a:ext cx="6970183" cy="7944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1085498" y="1508159"/>
            <a:ext cx="3366491" cy="2586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690605" y="1513007"/>
            <a:ext cx="3366491" cy="2581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1085394" y="603123"/>
            <a:ext cx="6971702" cy="792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1085393" y="1514662"/>
            <a:ext cx="3366596" cy="6014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50"/>
              <a:buNone/>
              <a:defRPr b="0" sz="165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1085393" y="2118202"/>
            <a:ext cx="3366596" cy="1983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4692019" y="1517253"/>
            <a:ext cx="3366596" cy="6016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SzPts val="1650"/>
              <a:buNone/>
              <a:defRPr b="0" sz="1650" cap="none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500"/>
              <a:buNone/>
              <a:defRPr b="1" sz="150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350"/>
              <a:buNone/>
              <a:defRPr b="1" sz="135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4692019" y="2116119"/>
            <a:ext cx="3366596" cy="19780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1088685" y="603390"/>
            <a:ext cx="6968411" cy="786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1083504" y="599230"/>
            <a:ext cx="2221475" cy="1804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Rockwell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3547743" y="599230"/>
            <a:ext cx="4509353" cy="3494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1083504" y="2404119"/>
            <a:ext cx="2221475" cy="1686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0"/>
          <p:cNvGrpSpPr/>
          <p:nvPr/>
        </p:nvGrpSpPr>
        <p:grpSpPr>
          <a:xfrm>
            <a:off x="5608041" y="361628"/>
            <a:ext cx="3055900" cy="3861826"/>
            <a:chOff x="7477387" y="482170"/>
            <a:chExt cx="4074533" cy="5149101"/>
          </a:xfrm>
        </p:grpSpPr>
        <p:sp>
          <p:nvSpPr>
            <p:cNvPr id="66" name="Google Shape;66;p10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rotWithShape="1">
              <a:blip r:embed="rId2">
                <a:alphaModFix amt="30000"/>
              </a:blip>
              <a:tile algn="ctr" flip="none" tx="0" sx="100000" ty="0" sy="100000"/>
            </a:blipFill>
            <a:ln>
              <a:noFill/>
            </a:ln>
            <a:effectLst>
              <a:outerShdw blurRad="127000" sx="98000" rotWithShape="0" algn="tl" dir="4740000" dist="228600" sy="98000">
                <a:srgbClr val="000000">
                  <a:alpha val="3372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10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cap="flat" cmpd="sng" w="38100">
              <a:solidFill>
                <a:srgbClr val="3D352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8" name="Google Shape;68;p10"/>
          <p:cNvSpPr txBox="1"/>
          <p:nvPr>
            <p:ph type="title"/>
          </p:nvPr>
        </p:nvSpPr>
        <p:spPr>
          <a:xfrm>
            <a:off x="1088405" y="847135"/>
            <a:ext cx="4149246" cy="14417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ckwel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6093292" y="841907"/>
            <a:ext cx="2093378" cy="2899745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1087747" y="2294700"/>
            <a:ext cx="4143303" cy="1567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350"/>
              <a:buNone/>
              <a:defRPr sz="1350"/>
            </a:lvl1pPr>
            <a:lvl2pPr indent="-2286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050"/>
              <a:buNone/>
              <a:defRPr sz="1050"/>
            </a:lvl2pPr>
            <a:lvl3pPr indent="-2286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900"/>
              <a:buNone/>
              <a:defRPr sz="900"/>
            </a:lvl3pPr>
            <a:lvl4pPr indent="-2286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4pPr>
            <a:lvl5pPr indent="-2286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5pPr>
            <a:lvl6pPr indent="-2286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6pPr>
            <a:lvl7pPr indent="-2286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7pPr>
            <a:lvl8pPr indent="-2286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8pPr>
            <a:lvl9pPr indent="-2286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750"/>
              <a:buNone/>
              <a:defRPr sz="75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1085537" y="4102393"/>
            <a:ext cx="4145513" cy="2400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1085537" y="238981"/>
            <a:ext cx="4155753" cy="24069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1088685" y="603390"/>
            <a:ext cx="6968411" cy="786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 rot="5400000">
            <a:off x="3278911" y="-678426"/>
            <a:ext cx="2587960" cy="6968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1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title"/>
          </p:nvPr>
        </p:nvSpPr>
        <p:spPr>
          <a:xfrm rot="5400000">
            <a:off x="5703734" y="1740785"/>
            <a:ext cx="3494917" cy="12118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ckwel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body"/>
          </p:nvPr>
        </p:nvSpPr>
        <p:spPr>
          <a:xfrm rot="5400000">
            <a:off x="2155541" y="-472807"/>
            <a:ext cx="3494917" cy="56389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B4B4B"/>
            </a:gs>
            <a:gs pos="100000">
              <a:schemeClr val="dk1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88685" y="603390"/>
            <a:ext cx="6968411" cy="7869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Rockwell"/>
              <a:buNone/>
              <a:defRPr b="0" i="0" sz="24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088685" y="1511799"/>
            <a:ext cx="6968411" cy="2587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3850" lvl="0" marL="457200" marR="0" rtl="0" algn="l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14325" lvl="1" marL="914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04800" lvl="2" marL="1371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295275" lvl="3" marL="1828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285750" lvl="4" marL="22860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285750" lvl="5" marL="27432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285750" lvl="6" marL="32004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285750" lvl="7" marL="36576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285750" lvl="8" marL="4114800" marR="0" rtl="0" algn="l">
              <a:lnSpc>
                <a:spcPct val="120000"/>
              </a:lnSpc>
              <a:spcBef>
                <a:spcPts val="375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Char char="•"/>
              <a:defRPr b="0" i="0" sz="9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5431560" y="247778"/>
            <a:ext cx="2625536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088684" y="246981"/>
            <a:ext cx="4220081" cy="231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75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60046" y="599230"/>
            <a:ext cx="608264" cy="377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100" u="none" cap="none" strike="noStrike">
                <a:solidFill>
                  <a:schemeClr val="accent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2716718"/>
            <a:ext cx="9144000" cy="1879488"/>
          </a:xfrm>
          <a:prstGeom prst="rect">
            <a:avLst/>
          </a:prstGeom>
          <a:gradFill>
            <a:gsLst>
              <a:gs pos="0">
                <a:srgbClr val="454545">
                  <a:alpha val="0"/>
                </a:srgbClr>
              </a:gs>
              <a:gs pos="100000">
                <a:srgbClr val="454545">
                  <a:alpha val="8000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-1538" l="0" r="0" t="1538"/>
          <a:stretch/>
        </p:blipFill>
        <p:spPr>
          <a:xfrm>
            <a:off x="0" y="4597003"/>
            <a:ext cx="9144000" cy="5572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" name="Google Shape;13;p1"/>
          <p:cNvCxnSpPr/>
          <p:nvPr/>
        </p:nvCxnSpPr>
        <p:spPr>
          <a:xfrm>
            <a:off x="0" y="4603607"/>
            <a:ext cx="9144000" cy="0"/>
          </a:xfrm>
          <a:prstGeom prst="straightConnector1">
            <a:avLst/>
          </a:prstGeom>
          <a:noFill/>
          <a:ln cap="flat" cmpd="sng" w="12700">
            <a:solidFill>
              <a:srgbClr val="000001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DAC5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Private Couples Healing Intensive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Edith &amp; Jason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98750" y="4033050"/>
            <a:ext cx="87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>
                <a:solidFill>
                  <a:schemeClr val="dk1"/>
                </a:solidFill>
              </a:rPr>
              <a:t>"Between stimulus and response there is a space. In that space lies our freedom to choose." — Viktor Frankl</a:t>
            </a:r>
            <a:endParaRPr i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The Truth About Your Pattern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57200" y="1188720"/>
            <a:ext cx="82296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This isn't about fixing one of you.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It's about changing the pattern</a:t>
            </a:r>
            <a:b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that keeps pulling you apart.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57200" y="4389120"/>
            <a:ext cx="822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Say: "Before we talk about logistics or sessions, I want to ground us in what this retreat is actually </a:t>
            </a:r>
            <a:r>
              <a:rPr i="1" lang="en-US" sz="14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designed to change."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457200" y="1035525"/>
            <a:ext cx="7697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86967F"/>
                </a:solidFill>
              </a:rPr>
              <a:t>"Love is not a feeling. Love is a practice of presence when the nervous system wants to flee."</a:t>
            </a:r>
            <a:endParaRPr i="1" sz="1300">
              <a:solidFill>
                <a:srgbClr val="86967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What You Told Me You Want Instead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57200" y="1188720"/>
            <a:ext cx="8229600" cy="33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Conflicts that de-escalate quickly instead of dragging on for days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Feeling emotionally safe enough to stay open, not shut down or chase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Saying what you need without adding meaning or triggering defense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Interrupting the push-pull cycle before it takes over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Staying connected and respectful even when you disagree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Feeling like true partners again — emotionally aligned, not bracing for impact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57200" y="4389120"/>
            <a:ext cx="822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Say: "If this were happening consistently, how different would your relationship feel six months from now?"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74900" y="1005850"/>
            <a:ext cx="926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"The deepest intimacy comes not from never triggering each other, but from choosing to turn toward instead of away when we do."</a:t>
            </a:r>
            <a:endParaRPr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What's Actually Getting in the Way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457200" y="1188720"/>
            <a:ext cx="82296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The Real Issue: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You're reacting from old nervous-system patterns, not the present moment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Conversations escalate before either of you feels fully heard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You've never been given tools to interrupt the cycle together</a:t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This isn't a communication problem.</a:t>
            </a:r>
            <a:b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It's a regulation + pattern problem.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457200" y="4389120"/>
            <a:ext cx="822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Say: "Most couples try to talk their way out of a nervous-system issue. That's why insight alone hasn't </a:t>
            </a:r>
            <a:r>
              <a:rPr i="1" lang="en-US" sz="14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been enough."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38600" y="1094425"/>
            <a:ext cx="9005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"What triggers us in our partner is rarely about them — it's our nervous system recognizing an old threat that no longer exists."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How This Retreat Creates Change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457200" y="1188720"/>
            <a:ext cx="822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Regulation &amp; Safety</a:t>
            </a:r>
            <a:b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Calm the nervous system so conversations don't spiral automatically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Core Pattern Repair</a:t>
            </a:r>
            <a:b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Heal the root dynamic driving repeated conflict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Integration &amp; Forward Path</a:t>
            </a:r>
            <a:b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Build shared tools that actually work at home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457200" y="43891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S</a:t>
            </a:r>
            <a:r>
              <a:rPr i="1" lang="en-US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ay: "Every session fits into one of these three categories. Nothing here is random or extra."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457200" y="1005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"Healing happens when we stop trying to think our way to safety and start creating it in our bodies."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DAC5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/>
        </p:nvSpPr>
        <p:spPr>
          <a:xfrm>
            <a:off x="457200" y="1250795"/>
            <a:ext cx="822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Your Transformation Journey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853100" y="2672020"/>
            <a:ext cx="73152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Let me walk you through exactly what happens</a:t>
            </a:r>
            <a:br>
              <a:rPr i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i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and why each piece matters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0" y="214595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"This isn't about becoming different people. It's about interrupting the pattern long enough to remember who you really are together."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41" name="Google Shape;141;p19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At-Home Pre-Retreat</a:t>
            </a:r>
            <a:endParaRPr/>
          </a:p>
        </p:txBody>
      </p:sp>
      <p:sp>
        <p:nvSpPr>
          <p:cNvPr id="142" name="Google Shape;142;p19"/>
          <p:cNvSpPr txBox="1"/>
          <p:nvPr/>
        </p:nvSpPr>
        <p:spPr>
          <a:xfrm>
            <a:off x="457200" y="914400"/>
            <a:ext cx="4114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Sessions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Couples Soul Intention Setting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Modalities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Coaching, intention mapping, energetic alignment</a:t>
            </a:r>
            <a:endParaRPr/>
          </a:p>
        </p:txBody>
      </p:sp>
      <p:sp>
        <p:nvSpPr>
          <p:cNvPr id="143" name="Google Shape;143;p19"/>
          <p:cNvSpPr txBox="1"/>
          <p:nvPr/>
        </p:nvSpPr>
        <p:spPr>
          <a:xfrm>
            <a:off x="4754880" y="914400"/>
            <a:ext cx="4114800" cy="24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What This Creates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Clarifies what truly needs to change before you arrive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Aligns you as a team instead of separate agendas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Prepares your nervous systems so the work goes deeper, faster</a:t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48425" y="914400"/>
            <a:ext cx="8869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</a:rPr>
              <a:t>"Intention without alignment is just hope. Alignment without intention is just wandering."</a:t>
            </a:r>
            <a:endParaRPr i="1" sz="1200">
              <a:solidFill>
                <a:srgbClr val="86967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Day 1 — Establishing Safety &amp; Shared Ground</a:t>
            </a:r>
            <a:endParaRPr/>
          </a:p>
        </p:txBody>
      </p:sp>
      <p:sp>
        <p:nvSpPr>
          <p:cNvPr id="151" name="Google Shape;151;p20"/>
          <p:cNvSpPr txBox="1"/>
          <p:nvPr/>
        </p:nvSpPr>
        <p:spPr>
          <a:xfrm>
            <a:off x="457200" y="914400"/>
            <a:ext cx="411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Sessions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Couples Sedona Soul Orientation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Getting Our Needs Met (Relationship Renewal Part 1)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Couples Family Constellation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Modalities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Orientation, guided dialogue, constellation work, family-of-origin healing</a:t>
            </a:r>
            <a:endParaRPr/>
          </a:p>
        </p:txBody>
      </p:sp>
      <p:sp>
        <p:nvSpPr>
          <p:cNvPr id="152" name="Google Shape;152;p20"/>
          <p:cNvSpPr txBox="1"/>
          <p:nvPr/>
        </p:nvSpPr>
        <p:spPr>
          <a:xfrm>
            <a:off x="4838930" y="956425"/>
            <a:ext cx="41148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What This Creates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Helps you arrive grounded rather than guarded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Brings unmet needs into the open without blame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Reveals inherited patterns shaping your reactions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Frees you to relate as partners in the present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0" y="100145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</a:rPr>
              <a:t>"We cannot heal in the same nervous system state where the wound was created. Safety must come first."</a:t>
            </a:r>
            <a:endParaRPr i="1" sz="1200">
              <a:solidFill>
                <a:srgbClr val="86967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Day 2 — Individual Regulation &amp; Core Repair</a:t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457200" y="914400"/>
            <a:ext cx="411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Sessions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Resetting the Central Nervous System (Edith)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Emotional Awareness &amp; Repatterning (Jason)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Healing the Core Wound on the Land (Couples)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Modalities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Somatic therapy, breathwork, emotional processing, nature-based ceremony</a:t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4754880" y="914400"/>
            <a:ext cx="4114800" cy="27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What This Creates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Helps the body stand down from chronic stress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Replaces reactivity with conscious choice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Identifies the deeper wound driving repeated conflict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Allows trust and vulnerability to re-emerge naturally</a:t>
            </a:r>
            <a:endParaRPr/>
          </a:p>
        </p:txBody>
      </p:sp>
      <p:sp>
        <p:nvSpPr>
          <p:cNvPr id="162" name="Google Shape;162;p21"/>
          <p:cNvSpPr txBox="1"/>
          <p:nvPr/>
        </p:nvSpPr>
        <p:spPr>
          <a:xfrm>
            <a:off x="0" y="97420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</a:rPr>
              <a:t>"The body keeps the score, but it also holds the key. When we heal individually, we heal what we bring to the relationship."</a:t>
            </a:r>
            <a:endParaRPr i="1" sz="1200">
              <a:solidFill>
                <a:srgbClr val="86967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68" name="Google Shape;168;p2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Day 3 — Energy, Expression &amp; Connection</a:t>
            </a:r>
            <a:endParaRPr/>
          </a:p>
        </p:txBody>
      </p:sp>
      <p:sp>
        <p:nvSpPr>
          <p:cNvPr id="169" name="Google Shape;169;p22"/>
          <p:cNvSpPr txBox="1"/>
          <p:nvPr/>
        </p:nvSpPr>
        <p:spPr>
          <a:xfrm>
            <a:off x="457200" y="914400"/>
            <a:ext cx="4114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Sessions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Inner Breath &amp; Sound (Edith)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Inner Breath &amp; Sound (Jason)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Conscious Compassionate Communication (Couples)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Modalities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Breathwork, sound healing, intentional dialogue, deep listening</a:t>
            </a:r>
            <a:endParaRPr/>
          </a:p>
        </p:txBody>
      </p:sp>
      <p:sp>
        <p:nvSpPr>
          <p:cNvPr id="170" name="Google Shape;170;p22"/>
          <p:cNvSpPr txBox="1"/>
          <p:nvPr/>
        </p:nvSpPr>
        <p:spPr>
          <a:xfrm>
            <a:off x="4754880" y="914400"/>
            <a:ext cx="4114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What This Creates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Releases stored emotional and physical tension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Restores vitality and emotional openness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Teaches you to hear what's actually being said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Builds safety even during hard conversations</a:t>
            </a:r>
            <a:endParaRPr/>
          </a:p>
        </p:txBody>
      </p:sp>
      <p:sp>
        <p:nvSpPr>
          <p:cNvPr id="171" name="Google Shape;171;p22"/>
          <p:cNvSpPr txBox="1"/>
          <p:nvPr/>
        </p:nvSpPr>
        <p:spPr>
          <a:xfrm>
            <a:off x="0" y="960575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</a:rPr>
              <a:t>"Connection is not found through perfect words — it's created through regulated presence and genuine seeing."</a:t>
            </a:r>
            <a:endParaRPr i="1" sz="1200">
              <a:solidFill>
                <a:srgbClr val="86967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77" name="Google Shape;177;p2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Day 4 — Integration &amp; Forward Momentum</a:t>
            </a:r>
            <a:endParaRPr/>
          </a:p>
        </p:txBody>
      </p:sp>
      <p:sp>
        <p:nvSpPr>
          <p:cNvPr id="178" name="Google Shape;178;p23"/>
          <p:cNvSpPr txBox="1"/>
          <p:nvPr/>
        </p:nvSpPr>
        <p:spPr>
          <a:xfrm>
            <a:off x="457200" y="914400"/>
            <a:ext cx="41148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Sessions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Creating a Path Forward (Relationship Renewal Part 2)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Gifted Couples Energy Attunement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Modalities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Integration work, boundary setting, energy work, vibrational alignment</a:t>
            </a:r>
            <a:endParaRPr/>
          </a:p>
        </p:txBody>
      </p:sp>
      <p:sp>
        <p:nvSpPr>
          <p:cNvPr id="179" name="Google Shape;179;p23"/>
          <p:cNvSpPr txBox="1"/>
          <p:nvPr/>
        </p:nvSpPr>
        <p:spPr>
          <a:xfrm>
            <a:off x="4754880" y="914400"/>
            <a:ext cx="41148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What This Creates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Synthesizes everything you've experienced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Equips you with practical tools for future challenges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Supports emotional harmony and calm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Helps peace and connection feel more accessible</a:t>
            </a:r>
            <a:endParaRPr/>
          </a:p>
        </p:txBody>
      </p:sp>
      <p:sp>
        <p:nvSpPr>
          <p:cNvPr id="180" name="Google Shape;180;p23"/>
          <p:cNvSpPr txBox="1"/>
          <p:nvPr/>
        </p:nvSpPr>
        <p:spPr>
          <a:xfrm>
            <a:off x="-190775" y="88565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</a:rPr>
              <a:t>"Integration is where insight becomes embodied wisdom. This is where the real work begins."</a:t>
            </a:r>
            <a:endParaRPr i="1" sz="1200">
              <a:solidFill>
                <a:srgbClr val="86967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4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86" name="Google Shape;186;p24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At-Home Integration &amp; Phase II Support</a:t>
            </a:r>
            <a:endParaRPr/>
          </a:p>
        </p:txBody>
      </p:sp>
      <p:sp>
        <p:nvSpPr>
          <p:cNvPr id="187" name="Google Shape;187;p24"/>
          <p:cNvSpPr txBox="1"/>
          <p:nvPr/>
        </p:nvSpPr>
        <p:spPr>
          <a:xfrm>
            <a:off x="457200" y="914400"/>
            <a:ext cx="41148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Sessions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Couples Intuitive Integration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2 Coaching Sessions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Optional Phase II: Ongoing Couples Support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Modalities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Coaching, integration planning, group breath journeys, practitioner sessions</a:t>
            </a:r>
            <a:endParaRPr/>
          </a:p>
        </p:txBody>
      </p:sp>
      <p:sp>
        <p:nvSpPr>
          <p:cNvPr id="188" name="Google Shape;188;p24"/>
          <p:cNvSpPr txBox="1"/>
          <p:nvPr/>
        </p:nvSpPr>
        <p:spPr>
          <a:xfrm>
            <a:off x="4754880" y="914400"/>
            <a:ext cx="4114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A3634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What This Creates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Helps apply the work in real life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Supports you through inevitable challenges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Prevents falling back into old patterns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✓ Sustains growth and keeps tools practiced and alive</a:t>
            </a:r>
            <a:endParaRPr/>
          </a:p>
        </p:txBody>
      </p:sp>
      <p:sp>
        <p:nvSpPr>
          <p:cNvPr id="189" name="Google Shape;189;p24"/>
          <p:cNvSpPr txBox="1"/>
          <p:nvPr/>
        </p:nvSpPr>
        <p:spPr>
          <a:xfrm>
            <a:off x="0" y="872000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</a:rPr>
              <a:t>"Transformation is not an event — it's a practice. The retreat opens the door; integration helps you walk through it."</a:t>
            </a:r>
            <a:endParaRPr i="1" sz="1200">
              <a:solidFill>
                <a:srgbClr val="86967F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DAC5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5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Your Investment in Transformation</a:t>
            </a:r>
            <a:endParaRPr/>
          </a:p>
        </p:txBody>
      </p:sp>
      <p:sp>
        <p:nvSpPr>
          <p:cNvPr id="195" name="Google Shape;195;p25"/>
          <p:cNvSpPr txBox="1"/>
          <p:nvPr/>
        </p:nvSpPr>
        <p:spPr>
          <a:xfrm>
            <a:off x="1828800" y="1645920"/>
            <a:ext cx="5486400" cy="26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Total Investment: $10,830.00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Payment Options: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Split deposit (50% now, 50% prior to arrival)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Pay-over-time options available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</a:br>
            <a:r>
              <a:rPr lang="en-US" sz="1800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This retreat is private, customized, and capacity-limited</a:t>
            </a:r>
            <a:endParaRPr/>
          </a:p>
        </p:txBody>
      </p:sp>
      <p:sp>
        <p:nvSpPr>
          <p:cNvPr id="196" name="Google Shape;196;p25"/>
          <p:cNvSpPr txBox="1"/>
          <p:nvPr/>
        </p:nvSpPr>
        <p:spPr>
          <a:xfrm>
            <a:off x="457200" y="4389120"/>
            <a:ext cx="8229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Say: "This isn't about whether it's worth it in theory. It's about whether staying in the current pattern </a:t>
            </a:r>
            <a:r>
              <a:rPr i="1" lang="en-US" sz="1400">
                <a:solidFill>
                  <a:srgbClr val="86967F"/>
                </a:solidFill>
                <a:latin typeface="Rockwell"/>
                <a:ea typeface="Rockwell"/>
                <a:cs typeface="Rockwell"/>
                <a:sym typeface="Rockwell"/>
              </a:rPr>
              <a:t>costs you more." [Then silence]</a:t>
            </a:r>
            <a:endParaRPr/>
          </a:p>
        </p:txBody>
      </p:sp>
      <p:sp>
        <p:nvSpPr>
          <p:cNvPr id="197" name="Google Shape;197;p25"/>
          <p:cNvSpPr txBox="1"/>
          <p:nvPr/>
        </p:nvSpPr>
        <p:spPr>
          <a:xfrm>
            <a:off x="0" y="1276625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86967F"/>
                </a:solidFill>
              </a:rPr>
              <a:t>“</a:t>
            </a:r>
            <a:r>
              <a:rPr i="1" lang="en-US" sz="1200">
                <a:solidFill>
                  <a:srgbClr val="86967F"/>
                </a:solidFill>
              </a:rPr>
              <a:t>When we avoid the cost of change, we pay the price of staying the same."</a:t>
            </a:r>
            <a:endParaRPr i="1" sz="1200">
              <a:solidFill>
                <a:srgbClr val="86967F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6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84D4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B84D43"/>
                </a:solidFill>
                <a:latin typeface="Rockwell"/>
                <a:ea typeface="Rockwell"/>
                <a:cs typeface="Rockwell"/>
                <a:sym typeface="Rockwell"/>
              </a:rPr>
              <a:t>Your Next Step</a:t>
            </a:r>
            <a:endParaRPr/>
          </a:p>
        </p:txBody>
      </p:sp>
      <p:sp>
        <p:nvSpPr>
          <p:cNvPr id="204" name="Google Shape;204;p26"/>
          <p:cNvSpPr txBox="1"/>
          <p:nvPr/>
        </p:nvSpPr>
        <p:spPr>
          <a:xfrm>
            <a:off x="457200" y="1188720"/>
            <a:ext cx="82296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If this feels aligned: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We secure your dates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Lock in your practitioner team for 12 months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• Begin pre-retreat intention work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4A3634"/>
                </a:solidFill>
                <a:latin typeface="Rockwell"/>
                <a:ea typeface="Rockwell"/>
                <a:cs typeface="Rockwell"/>
                <a:sym typeface="Rockwell"/>
              </a:rPr>
              <a:t>Place deposit today to hold availability</a:t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457200" y="438912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400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rPr>
              <a:t>Say: "What questions do you need answered to feel clear about moving forward?"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0" y="1042325"/>
            <a:ext cx="9144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86967F"/>
                </a:solidFill>
              </a:rPr>
              <a:t>"The moment of decision is the beginning of transformation. Everything else is just preparation or delay."</a:t>
            </a:r>
            <a:endParaRPr i="1" sz="1300">
              <a:solidFill>
                <a:srgbClr val="86967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